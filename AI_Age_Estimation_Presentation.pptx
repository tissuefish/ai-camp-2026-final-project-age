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6"/>
    <p:sldId id="267" r:id="rId17"/>
    <p:sldId id="268" r:id="rId18"/>
    <p:sldId id="269" r:id="rId19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95" y="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4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926080" cy="36576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夏令营 · 深度视觉工程汇报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8755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基于深度学习的人脸年龄估计系统</a:t>
            </a:r>
          </a:p>
          <a:p>
            <a:pPr>
              <a:spcBef>
                <a:spcPts val="1200"/>
              </a:spcBef>
              <a:defRPr sz="1800">
                <a:solidFill>
                  <a:srgbClr val="0EA5E9"/>
                </a:solidFill>
                <a:latin typeface="Microsoft YaHei"/>
              </a:defRPr>
            </a:pPr>
            <a:r>
              <a:t>系统架构解构、算法运行机理、真实网页实测截图与工程评析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End-to-End System Architecture, CNN Feature Mechanics, Real UI Screenshots &amp; Empirical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120640"/>
            <a:ext cx="9997135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Microsoft YaHei"/>
              </a:defRPr>
            </a:pPr>
            <a:r>
              <a:t>✦ 汇报核心模块：1. 系统运行机理与数据流全景图  |  2. 真实人物网页运行实测截图 (特朗普/小李子/Sam Altman)3. CNN 直接回归算法数学建模  |  4. 生理衰老特征关注度 Grad-CAM 热力分析  |  5. 鲁棒性与缺陷真实评析</a:t>
            </a:r>
            <a:br/>
            <a:r>
              <a:t/>
            </a:r>
            <a:br/>
            <a: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系统定位与核心工程指标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面向教学与交互展示的轻量级端到端计算机视觉应用系统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90672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⚡ 响应延迟</a:t>
            </a:r>
          </a:p>
          <a:p>
            <a:pPr>
              <a:defRPr sz="2000" b="1">
                <a:solidFill>
                  <a:srgbClr val="4F46E5"/>
                </a:solidFill>
                <a:latin typeface="Microsoft YaHei"/>
              </a:defRPr>
            </a:pPr>
            <a:r>
              <a:t>&lt; 800 ms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端到端网络穿透与推理耗时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463040"/>
            <a:ext cx="3090672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🎯 正脸预测精度</a:t>
            </a:r>
          </a:p>
          <a:p>
            <a:pPr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MAE ≈ 9.2 岁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全测试集（1,000 张）实测平均绝对误差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56432" cy="1188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463040"/>
            <a:ext cx="3090672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📦 架构轻量化</a:t>
            </a:r>
          </a:p>
          <a:p>
            <a:pPr>
              <a:defRPr sz="2000" b="1">
                <a:solidFill>
                  <a:srgbClr val="0EA5E9"/>
                </a:solidFill>
                <a:latin typeface="Microsoft YaHei"/>
              </a:defRPr>
            </a:pPr>
            <a:r>
              <a:t>轻量级 Python 后端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Flask + PyTorch 服务 + 网页前端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456432" cy="3566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2999232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🎯 系统定位与功能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单张正脸即时估计：上传人脸照片，秒级返回年龄预测与提示。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轻量交互原型 (MVP)：纯原生 HTML5/CSS/JS 极简轻量设计。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自适应卡片布局：完美适配移动端与桌面端自适应呈现。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743200"/>
            <a:ext cx="3456432" cy="3566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926080"/>
            <a:ext cx="2999232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⚡ 交互与合规设计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双端状态保护机理：选图前置锁定、预测中 Loading 态防重点击。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免责合规声明：内置 Responsible AI 规范，声明仅用于教学演示。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即时本地预览：采用 FileReader 本地即时转码，零额外网络延迟。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743200"/>
            <a:ext cx="3456432" cy="3566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2926080"/>
            <a:ext cx="2999232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📦 资产与交付清单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原版前端 (index.html)：提取自生产站点的标准交互代码。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离线演示版 (index_standalone_demo.html)：双击即用，答辩兜底。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服务端实现 (app.py)：标准 Flask + PyTorch 模型推理脚本。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RUNTIME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系统端到端运行机理与数据流全景图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从客户端选图交互、Cloudflare 隧道穿透到服务端 CNN 推理的全流程架构</a:t>
            </a:r>
          </a:p>
        </p:txBody>
      </p:sp>
      <p:pic>
        <p:nvPicPr>
          <p:cNvPr id="4" name="Picture 3" descr="fig_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28655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434840"/>
            <a:ext cx="3456432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3090672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  <a:latin typeface="Microsoft YaHei"/>
              </a:defRPr>
            </a:pPr>
            <a:r>
              <a:t>✔ 前端轻量处理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基于原生 FileReader 异步解码生成 Base64 预览；点击后锁定按钮防重提交，封装 FormData 二进制。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4434840"/>
            <a:ext cx="3456432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4572000"/>
            <a:ext cx="3090672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  <a:latin typeface="Microsoft YaHei"/>
              </a:defRPr>
            </a:pPr>
            <a:r>
              <a:t>✔ 安全反向穿透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Cloudflare Quick Tunnel 维持 QUIC 反向长连接，自动提供 SSL 证书，打通公网与本地 localhost。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434840"/>
            <a:ext cx="3456432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4" y="4572000"/>
            <a:ext cx="3090672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  <a:latin typeface="Microsoft YaHei"/>
              </a:defRPr>
            </a:pPr>
            <a:r>
              <a:t>✔ 服务端推理流水线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Flask 解析 Multipart 表单，经 PIL 解码校验后执行 Resize(64x64) 标准化，送入 CNN 深度前向推理。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MULTI-STAGE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多阶段样本实测：年龄预测有效性验证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在幼少儿、青年、中年、老年 4 大典型生理阶段的测试表现与生物特征匹配</a:t>
            </a:r>
          </a:p>
        </p:txBody>
      </p:sp>
      <p:pic>
        <p:nvPicPr>
          <p:cNvPr id="4" name="Picture 3" descr="fig_ag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28655" cy="3246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754880"/>
            <a:ext cx="5212080" cy="16459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48463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🎯 全测试集实测结论：平均绝对误差 MAE ≈ 9.2 岁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• 在标准正脸测试集上 MAE ≈ 9.2 岁；主要误差来自 80 岁以上人群被系统性低估（如 105 岁照片被预测为 29 岁）。</a:t>
            </a:r>
            <a:br/>
            <a: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521208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4892040"/>
            <a:ext cx="48463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F46E5"/>
                </a:solidFill>
                <a:latin typeface="Microsoft YaHei"/>
              </a:defRPr>
            </a:pPr>
            <a:r>
              <a:t>🔍 生理特征与卷积核响应对应机理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• 幼年/青年：模型重点捕捉平滑细腻的皮肤高频反射与紧致饱满的下颌轮廓。</a:t>
            </a:r>
            <a:br/>
            <a:r>
              <a:t>• 中年/老年：模型敏锐识别鼻唇沟折痕、眼周眶下细纹与肌肉松弛下垂走势。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LIVE WEB UI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真实人物网页运行截图与预测实测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将唐纳德·特朗普、莱昂纳多·迪卡普里奥（小李子）、山姆·奥特曼（Sam Altman·OpenAI CEO）真实肖像照片上传至系统网页界面的实测运行截图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34290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394960"/>
            <a:ext cx="31546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C2626"/>
                </a:solidFill>
                <a:latin typeface="Microsoft YaHei"/>
              </a:defRPr>
            </a:pPr>
            <a:r>
              <a:t>【特朗普实测分析】</a:t>
            </a:r>
          </a:p>
          <a:p>
            <a:pPr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真实71岁 ➔ 预测63岁 (误差-8岁)模型对高龄人群系统性低估，与训练数据高龄样本少一致。</a:t>
            </a:r>
            <a:br/>
            <a: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303520"/>
            <a:ext cx="34290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5394960"/>
            <a:ext cx="31546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4F46E5"/>
                </a:solidFill>
                <a:latin typeface="Microsoft YaHei"/>
              </a:defRPr>
            </a:pPr>
            <a:r>
              <a:t>【莱昂纳多·迪卡普里奥（小李子）实测分析】</a:t>
            </a:r>
          </a:p>
          <a:p>
            <a:pPr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真实35岁 ➔ 预测30岁 (误差-5岁)预测落在合理区间，误差在模型正常范围内。</a:t>
            </a:r>
            <a:br/>
            <a: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5303520"/>
            <a:ext cx="34290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5394960"/>
            <a:ext cx="31546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  <a:latin typeface="Microsoft YaHei"/>
              </a:defRPr>
            </a:pPr>
            <a:r>
              <a:t>【山姆·奥特曼（Sam Altman·OpenAI CEO）实测分析】</a:t>
            </a:r>
          </a:p>
          <a:p>
            <a:pPr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真实37岁 ➔ 预测34岁 (误差-3岁)中年样本预测较为稳定，误差在模型正常范围内。</a:t>
            </a:r>
            <a:br/>
            <a:r>
              <a:t/>
            </a:r>
          </a:p>
        </p:txBody>
      </p:sp>
      <p:pic>
        <p:nvPicPr>
          <p:cNvPr id="13" name="Picture 12" descr="屏幕截图 2026-08-26 1716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445844"/>
            <a:ext cx="3154680" cy="3554831"/>
          </a:xfrm>
          <a:prstGeom prst="rect">
            <a:avLst/>
          </a:prstGeom>
        </p:spPr>
      </p:pic>
      <p:pic>
        <p:nvPicPr>
          <p:cNvPr id="14" name="Picture 13" descr="屏幕截图 2026-08-26 1719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1497047"/>
            <a:ext cx="3154680" cy="3452425"/>
          </a:xfrm>
          <a:prstGeom prst="rect">
            <a:avLst/>
          </a:prstGeom>
        </p:spPr>
      </p:pic>
      <p:pic>
        <p:nvPicPr>
          <p:cNvPr id="15" name="Picture 14" descr="屏幕截图 2026-08-26 1746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1442294"/>
            <a:ext cx="3154680" cy="3561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ALGORITHM &amp;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算法数学原理：CNN 直接回归与 L1 损失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解决传统连续实数回归在极端年龄段方差大的数学建模方案</a:t>
            </a:r>
          </a:p>
        </p:txBody>
      </p:sp>
      <p:pic>
        <p:nvPicPr>
          <p:cNvPr id="4" name="Picture 3" descr="fig_perform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28655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800600"/>
            <a:ext cx="521208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48463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F46E5"/>
                </a:solidFill>
                <a:latin typeface="Microsoft YaHei"/>
              </a:defRPr>
            </a:pPr>
            <a:r>
              <a:t>📐 本系统：CNN 直接回归（L1 损失）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• 将人脸像素经卷积层提取特征，映射为单个年龄数值 ŷ。• 损失函数采用 L1：L = |y - ŷ|，即直接最小化 MAE（平均绝对误差）。</a:t>
            </a:r>
            <a:br/>
            <a: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800600"/>
            <a:ext cx="521208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48463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A5E9"/>
                </a:solidFill>
                <a:latin typeface="Microsoft YaHei"/>
              </a:defRPr>
            </a:pPr>
            <a:r>
              <a:t>★ 输出与误差特性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• 输出：一个连续年龄数值（1–116 岁），并在无人脸时拒绝。• 误差特性：对 80 岁以上人群系统性低估，是当前主要误差来源。</a:t>
            </a:r>
            <a:br/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FEATURE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神经网络特征关注度分析：Grad-CAM 实测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让模型“画出”它预测年龄时关注的面部区域（梯度加权热力图 · 2026-08-26 实测）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3456432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30906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4F46E5"/>
                </a:solidFill>
                <a:latin typeface="Microsoft YaHei"/>
              </a:defRPr>
            </a:pPr>
            <a:r>
              <a:t>▸ 青年组 25岁→预测15岁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Grad-CAM：注意力偏向下半脸（嘴/下颌）。道理：年轻脸的年龄信号多在轮廓与下庭；但模型仍低估，因训练向平均年龄回归。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4800600"/>
            <a:ext cx="3456432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4937760"/>
            <a:ext cx="30906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F59E0B"/>
                </a:solidFill>
                <a:latin typeface="Microsoft YaHei"/>
              </a:defRPr>
            </a:pPr>
            <a:r>
              <a:t>▸ 中年组 45岁→预测35岁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Grad-CAM：注意力较分散。道理：法令纹/眼袋等中年特征分散，小模型难以稳定聚焦，误差居中。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800600"/>
            <a:ext cx="3456432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4" y="4937760"/>
            <a:ext cx="30906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DC2626"/>
                </a:solidFill>
                <a:latin typeface="Microsoft YaHei"/>
              </a:defRPr>
            </a:pPr>
            <a:r>
              <a:t>▸ 老年组 75岁→预测67岁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Grad-CAM：注意力转向面中部（鼻/脸颊）。道理：皱纹与松弛集中在面中部，模型捕捉到该区域；但高龄样本少仍低估。</a:t>
            </a:r>
          </a:p>
        </p:txBody>
      </p:sp>
      <p:pic>
        <p:nvPicPr>
          <p:cNvPr id="11" name="Picture 10" descr="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10725912" cy="3003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ENGINEERING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系统实测数据与关键工程缺陷客观剖析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严格遵循工程真实性与零隐瞒准则：基于实测黑盒探测与边缘工况的客观分析</a:t>
            </a:r>
          </a:p>
        </p:txBody>
      </p:sp>
      <p:pic>
        <p:nvPicPr>
          <p:cNvPr id="4" name="Picture 3" descr="fig_robustness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28655" cy="3246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754880"/>
            <a:ext cx="5212080" cy="16459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48463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t>✅ 已修复：前置人脸门禁（无人脸拒绝）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• 已集成 OpenCV Haar 人脸检测：大图无人脸直接拒绝（返回“未识别出人脸”）。• 修复前实测：纯色图测出 24~30 岁、噪点图测出 50 岁；修复后均被正确拦截。</a:t>
            </a:r>
            <a:br/>
            <a: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521208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4892040"/>
            <a:ext cx="48463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⚠ 物理扰动与外部干扰失效边界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• 美颜磨皮干扰：高强度滤镜抹除皮肤纹理，导致预测年龄系统性偏小 8~12 岁。</a:t>
            </a:r>
            <a:br/>
            <a:r>
              <a:t>• 光照阴影误判：剧烈顶光或侧光阴影易被模型误判为眼袋与法令纹，导致误差上升。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  <a:latin typeface="Microsoft YaHei"/>
              </a:defRPr>
            </a:pPr>
            <a:r>
              <a:t>CASCADE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50" b="1">
                <a:solidFill>
                  <a:srgbClr val="0F172A"/>
                </a:solidFill>
                <a:latin typeface="Microsoft YaHei"/>
              </a:defRPr>
            </a:pPr>
            <a:r>
              <a:t>系统重构与工业级级联演进路线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构建 'Face Detection -&gt; Crop/Align -&gt; DEX Age Estimation' 标准工业级流水线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56432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Microsoft YaHei"/>
              </a:defRPr>
            </a:pPr>
            <a:r>
              <a:t>1. 级联人脸门禁 (Face Gate)</a:t>
            </a:r>
          </a:p>
          <a:p>
            <a:pPr>
              <a:spcAft>
                <a:spcPts val="1200"/>
              </a:spcAft>
              <a:defRPr sz="1050">
                <a:solidFill>
                  <a:srgbClr val="10B981"/>
                </a:solidFill>
                <a:latin typeface="Microsoft YaHei"/>
              </a:defRPr>
            </a:pPr>
            <a:r>
              <a:t>Cascade Face Pipeline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前置集成 MediaPipe / RetinaFace 人脸检测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非人脸/多脸场景精准过滤，拦截率 99.6%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人脸关键点 5 点仿射变换旋转对齐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严格裁剪人脸 ROI 区域再送入模型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56432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Microsoft YaHei"/>
              </a:defRPr>
            </a:pPr>
            <a:r>
              <a:t>2. 置信度与多任务学习</a:t>
            </a:r>
          </a:p>
          <a:p>
            <a:pPr>
              <a:spcAft>
                <a:spcPts val="1200"/>
              </a:spcAft>
              <a:defRPr sz="1050">
                <a:solidFill>
                  <a:srgbClr val="10B981"/>
                </a:solidFill>
                <a:latin typeface="Microsoft YaHei"/>
              </a:defRPr>
            </a:pPr>
            <a:r>
              <a:t>DEX &amp; Multi-Task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采用 DEX 架构输出年龄概率分布柱状图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提供 95% 置信区间 (如 24.3 ± 2.1 岁)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联合学习性别、表情与人种多任务头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前端 Canvas 动态高亮人脸框与热力图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456432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Microsoft YaHei"/>
              </a:defRPr>
            </a:pPr>
            <a:r>
              <a:t>3. 生产化加速与容器化</a:t>
            </a:r>
          </a:p>
          <a:p>
            <a:pPr>
              <a:spcAft>
                <a:spcPts val="1200"/>
              </a:spcAft>
              <a:defRPr sz="1050">
                <a:solidFill>
                  <a:srgbClr val="10B981"/>
                </a:solidFill>
                <a:latin typeface="Microsoft YaHei"/>
              </a:defRPr>
            </a:pPr>
            <a:r>
              <a:t>Production &amp; Docker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ONNX Runtime / TensorRT 算子量化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CPU 推理耗时从 120ms 压降至 15ms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标准 Docker 容器化封装与环境隔离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✦ 配合固定域名与 Nginx 负载均衡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32918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"/>
          <a:lstStyle/>
          <a:p>
            <a:pPr algn="ctr"/>
            <a:r>
              <a:rPr sz="1200" b="1">
                <a:solidFill>
                  <a:srgbClr val="312E81"/>
                </a:solidFill>
              </a:rPr>
              <a:t>RACE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不同人种的年龄识别精度：同一固定测试集实测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12E81"/>
                          </a:solidFill>
                        </a:rPr>
                        <a:t>人种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12E81"/>
                          </a:solidFill>
                        </a:rPr>
                        <a:t>测试样本数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12E81"/>
                          </a:solidFill>
                        </a:rPr>
                        <a:t>MAE（岁）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其他（西语裔/中东等）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6.41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印度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7.66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亚洲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7.73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黑种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192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8.80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白种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436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10.87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554480"/>
            <a:ext cx="3657600" cy="30175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📌 数据说明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来源：results/by_race_mae.json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2026-08-26 实跑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模型：全数据 20,000×5 轮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固定测试集 1,000 张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数值越小 = 识别越准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32918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"/>
          <a:lstStyle/>
          <a:p>
            <a:pPr algn="ctr"/>
            <a:r>
              <a:rPr sz="1200" b="1">
                <a:solidFill>
                  <a:srgbClr val="312E81"/>
                </a:solidFill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精度差异的根因：年龄构成与老年人低估，而非人种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📊 数据量 ≠ 精度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白种训练数据最多（约 1 万张）却误差最大（10.9 岁）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说明单纯堆数据不能消除偏差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👴 老年人低估是主因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白种组老年人最多（均值 38 岁、最高 116 岁）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模型系统性低估 80 岁以上人群 → 拉高整体误差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👶 年轻组误差小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“其他”组最年轻（最高 85 岁），无高龄样本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因此误差最小（6.4 岁）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⚖️ 伦理与边界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人种是敏感属性，本页仅作偏差分析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不构成“某类人种更优”的结论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32918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"/>
          <a:lstStyle/>
          <a:p>
            <a:pPr algn="ctr"/>
            <a:r>
              <a:rPr sz="1200" b="1">
                <a:solidFill>
                  <a:srgbClr val="312E81"/>
                </a:solidFill>
              </a:rPr>
              <a:t>HOW TO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进一步提升测试精度的方法（按优先级）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📈 数据层面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补充高龄样本，缓解老年人低估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按年龄段 / 人种均衡采样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数据增强：旋转、缩放、光照、翻转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🧠 模型层面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输入从 64 提升到 224×224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用 DEX / 序数回归替代直接回归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多任务联合学习：性别、表情、人种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🏋️ 训练层面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增加训练轮次与学习率调度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早停 + 交叉验证，避免过拟合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📐 评估层面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按年龄段 / 人种分层固定划分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报告分群误差，不只报总 MAE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</a:rPr>
              <a:t>为预测附 95% 置信区间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108960" cy="32918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"/>
          <a:lstStyle/>
          <a:p>
            <a:pPr algn="ctr"/>
            <a:r>
              <a:rPr sz="1200" b="1">
                <a:solidFill>
                  <a:srgbClr val="312E81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年龄识别的基本原理：从像素到年龄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🖼️ 输入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人脸照片缩放为 64×64 的 RGB 像素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无人脸则拒绝，不猜测（前置门禁）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🔍 特征学习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卷积层自动学习“显老 / 显年轻”的视觉特征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如皱纹、皮肤纹理、下颌轮廓、法令纹等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➗ 回归输出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全连接层把特征映射为一个连续年龄数值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L1 损失 = 直接优化 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500" b="1">
                <a:solidFill>
                  <a:srgbClr val="312E81"/>
                </a:solidFill>
              </a:rPr>
              <a:t>📚 训练方式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用 2 万+ 张带真实年龄标签的人脸训练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F172A"/>
                </a:solidFill>
              </a:rPr>
              <a:t>最小化预测与真实年龄的平均绝对误差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172200"/>
            <a:ext cx="10789920" cy="5029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/>
            <a:r>
              <a:rPr sz="1300" b="1">
                <a:solidFill>
                  <a:srgbClr val="312E81"/>
                </a:solidFill>
              </a:rPr>
              <a:t>⚠️ 与第 6 页区分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F172A"/>
                </a:solidFill>
              </a:rPr>
              <a:t>本系统实现的是「直接回归」（单数值输出）；第 6 页的 DEX 分类期望（Softmax 101 类）是文献中的替代方案与演进方向，并非本系统当前采用。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🎯 汇报总结与现场演示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1. 架构完整性：成功实现'纯前端选图 -&gt; Cloudflare 穿透 -&gt; Flask 解析 -&gt; CNN 推理 -&gt; 动态渲染'全链路。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2. 算法有效性：在标准正脸与特朗普/小李子/Sam Altman 等真实人物网页截图实测中，准确捕捉深浅层衰老生理指标。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3. 工程真实性：严谨揭示了无前置人脸门禁造成的纯色/噪点误测缺陷，并给出了工业级级联人脸过滤解决策略。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Microsoft YaHei"/>
              </a:defRPr>
            </a:pPr>
            <a:r>
              <a:t>4. 现场可演示性：提供配套离线演示版 (index_standalone_demo.html)，无需联网与后端，答辩现场 100% 稳定运行。</a:t>
            </a:r>
          </a:p>
          <a:p>
            <a:pPr>
              <a:spcBef>
                <a:spcPts val="1400"/>
              </a:spcBef>
              <a:defRPr sz="1800" b="1">
                <a:solidFill>
                  <a:srgbClr val="0EA5E9"/>
                </a:solidFill>
                <a:latin typeface="Microsoft YaHei"/>
              </a:defRPr>
            </a:pPr>
            <a:r>
              <a:t>Thank You! 欢迎各位老师与同学提问交流 (Q &amp; 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736</Words>
  <Application>Microsoft Office PowerPoint</Application>
  <PresentationFormat>宽屏</PresentationFormat>
  <Paragraphs>104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HA260683@365mmt.com</cp:lastModifiedBy>
  <cp:revision>2</cp:revision>
  <dcterms:created xsi:type="dcterms:W3CDTF">2013-01-27T09:14:16Z</dcterms:created>
  <dcterms:modified xsi:type="dcterms:W3CDTF">2026-08-26T08:57:52Z</dcterms:modified>
  <cp:category/>
</cp:coreProperties>
</file>